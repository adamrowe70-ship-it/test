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64592"/>
          </a:xfrm>
          <a:prstGeom prst="roundRect">
            <a:avLst>
              <a:gd name="adj" fmla="val 6000"/>
            </a:avLst>
          </a:prstGeom>
          <a:solidFill>
            <a:srgbClr val="35D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35D07A"/>
                </a:solidFill>
                <a:latin typeface="Segoe UI"/>
              </a:rPr>
              <a:t>ASUS ROG ASTRAL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F2F5F8"/>
                </a:solidFill>
                <a:latin typeface="Segoe UI"/>
              </a:rPr>
              <a:t>GeForce RTX 5080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0" i="1">
                <a:solidFill>
                  <a:srgbClr val="9AA7B8"/>
                </a:solidFill>
                <a:latin typeface="Segoe UI"/>
              </a:rPr>
              <a:t>How long will it stay relevant?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AA7B8"/>
                </a:solidFill>
                <a:latin typeface="Segoe UI"/>
              </a:rPr>
              <a:t>A buyer's longevity &amp; future-proofing briefing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892040"/>
            <a:ext cx="2926080" cy="36576"/>
          </a:xfrm>
          <a:prstGeom prst="roundRect">
            <a:avLst>
              <a:gd name="adj" fmla="val 6000"/>
            </a:avLst>
          </a:prstGeom>
          <a:solidFill>
            <a:srgbClr val="2C35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5D07A"/>
                </a:solidFill>
                <a:latin typeface="Segoe UI"/>
              </a:rPr>
              <a:t>THE PRODUCT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13232"/>
            <a:ext cx="822960" cy="64008"/>
          </a:xfrm>
          <a:prstGeom prst="roundRect">
            <a:avLst>
              <a:gd name="adj" fmla="val 6000"/>
            </a:avLst>
          </a:prstGeom>
          <a:solidFill>
            <a:srgbClr val="35D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2F5F8"/>
                </a:solidFill>
                <a:latin typeface="Segoe UI"/>
              </a:rPr>
              <a:t>What the ROG Astral RTX 5080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F2F5F8"/>
                </a:solidFill>
                <a:latin typeface="Segoe UI"/>
              </a:rPr>
              <a:t>A flagship-tier partner card: ASUS's top-of-the-stack ROG Astral cooler wrapped around NVIDIA's GeForce RTX 5080 — the second-fastest GPU of the Blackwell (RTX 50-series) generation, launched in 2025.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34640"/>
            <a:ext cx="2697480" cy="2194560"/>
          </a:xfrm>
          <a:prstGeom prst="roundRect">
            <a:avLst>
              <a:gd name="adj" fmla="val 6000"/>
            </a:avLst>
          </a:prstGeom>
          <a:solidFill>
            <a:srgbClr val="1A202E"/>
          </a:solidFill>
          <a:ln w="12700">
            <a:solidFill>
              <a:srgbClr val="2C35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109728" cy="2194560"/>
          </a:xfrm>
          <a:prstGeom prst="roundRect">
            <a:avLst>
              <a:gd name="adj" fmla="val 6000"/>
            </a:avLst>
          </a:prstGeom>
          <a:solidFill>
            <a:srgbClr val="35D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5D07A"/>
                </a:solidFill>
                <a:latin typeface="Segoe UI"/>
              </a:rPr>
              <a:t>GPU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11880"/>
            <a:ext cx="2331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2F5F8"/>
                </a:solidFill>
                <a:latin typeface="Segoe UI"/>
              </a:rPr>
              <a:t>NVIDIA Blackwell (GB203)
RTX 5080 silicon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2834640"/>
            <a:ext cx="2697480" cy="2194560"/>
          </a:xfrm>
          <a:prstGeom prst="roundRect">
            <a:avLst>
              <a:gd name="adj" fmla="val 6000"/>
            </a:avLst>
          </a:prstGeom>
          <a:solidFill>
            <a:srgbClr val="1A202E"/>
          </a:solidFill>
          <a:ln w="12700">
            <a:solidFill>
              <a:srgbClr val="2C35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02152" y="2834640"/>
            <a:ext cx="109728" cy="2194560"/>
          </a:xfrm>
          <a:prstGeom prst="roundRect">
            <a:avLst>
              <a:gd name="adj" fmla="val 6000"/>
            </a:avLst>
          </a:prstGeom>
          <a:solidFill>
            <a:srgbClr val="4C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306324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4C9AFF"/>
                </a:solidFill>
                <a:latin typeface="Segoe UI"/>
              </a:rPr>
              <a:t>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3611880"/>
            <a:ext cx="2331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2F5F8"/>
                </a:solidFill>
                <a:latin typeface="Segoe UI"/>
              </a:rPr>
              <a:t>16 GB GDDR7
256-bit bus, very high bandwidth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64224" y="2834640"/>
            <a:ext cx="2697480" cy="2194560"/>
          </a:xfrm>
          <a:prstGeom prst="roundRect">
            <a:avLst>
              <a:gd name="adj" fmla="val 6000"/>
            </a:avLst>
          </a:prstGeom>
          <a:solidFill>
            <a:srgbClr val="1A202E"/>
          </a:solidFill>
          <a:ln w="12700">
            <a:solidFill>
              <a:srgbClr val="2C35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64224" y="2834640"/>
            <a:ext cx="109728" cy="2194560"/>
          </a:xfrm>
          <a:prstGeom prst="roundRect">
            <a:avLst>
              <a:gd name="adj" fmla="val 6000"/>
            </a:avLst>
          </a:prstGeom>
          <a:solidFill>
            <a:srgbClr val="F0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92824" y="306324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0A53A"/>
                </a:solidFill>
                <a:latin typeface="Segoe UI"/>
              </a:rPr>
              <a:t>KEY FEATURE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2824" y="3611880"/>
            <a:ext cx="2331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2F5F8"/>
                </a:solidFill>
                <a:latin typeface="Segoe UI"/>
              </a:rPr>
              <a:t>DLSS 4 with
Multi-Frame Generation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26296" y="2834640"/>
            <a:ext cx="2697480" cy="2194560"/>
          </a:xfrm>
          <a:prstGeom prst="roundRect">
            <a:avLst>
              <a:gd name="adj" fmla="val 6000"/>
            </a:avLst>
          </a:prstGeom>
          <a:solidFill>
            <a:srgbClr val="1A202E"/>
          </a:solidFill>
          <a:ln w="12700">
            <a:solidFill>
              <a:srgbClr val="2C35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26296" y="2834640"/>
            <a:ext cx="109728" cy="2194560"/>
          </a:xfrm>
          <a:prstGeom prst="roundRect">
            <a:avLst>
              <a:gd name="adj" fmla="val 6000"/>
            </a:avLst>
          </a:prstGeom>
          <a:solidFill>
            <a:srgbClr val="35D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54896" y="306324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5D07A"/>
                </a:solidFill>
                <a:latin typeface="Segoe UI"/>
              </a:rPr>
              <a:t>COOLER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54896" y="3611880"/>
            <a:ext cx="2331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2F5F8"/>
                </a:solidFill>
                <a:latin typeface="Segoe UI"/>
              </a:rPr>
              <a:t>ROG Astral quad-fan
premium thermal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3949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9AA7B8"/>
                </a:solidFill>
                <a:latin typeface="Segoe UI"/>
              </a:rPr>
              <a:t>Positioning: high-end 4K gaming and creator card — one tier below the RTX 5090 flagship.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5D07A"/>
                </a:solidFill>
                <a:latin typeface="Segoe UI"/>
              </a:rPr>
              <a:t>THE LONGEVITY DRIVERS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13232"/>
            <a:ext cx="822960" cy="64008"/>
          </a:xfrm>
          <a:prstGeom prst="roundRect">
            <a:avLst>
              <a:gd name="adj" fmla="val 6000"/>
            </a:avLst>
          </a:prstGeom>
          <a:solidFill>
            <a:srgbClr val="35D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2F5F8"/>
                </a:solidFill>
                <a:latin typeface="Segoe UI"/>
              </a:rPr>
              <a:t>Which specs decide how long it lasts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0927080" cy="1051560"/>
          </a:xfrm>
          <a:prstGeom prst="roundRect">
            <a:avLst>
              <a:gd name="adj" fmla="val 6000"/>
            </a:avLst>
          </a:prstGeom>
          <a:solidFill>
            <a:srgbClr val="1A202E"/>
          </a:solidFill>
          <a:ln w="12700">
            <a:solidFill>
              <a:srgbClr val="2C35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09728" cy="1051560"/>
          </a:xfrm>
          <a:prstGeom prst="roundRect">
            <a:avLst>
              <a:gd name="adj" fmla="val 6000"/>
            </a:avLst>
          </a:prstGeom>
          <a:solidFill>
            <a:srgbClr val="35D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834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35D07A"/>
                </a:solidFill>
                <a:latin typeface="Segoe UI"/>
              </a:rPr>
              <a:t>Raw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709928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2F5F8"/>
                </a:solidFill>
                <a:latin typeface="Segoe UI"/>
              </a:rPr>
              <a:t>Sits near the top of the stack — comfortably drives 4K today and has headroom to spare, which is the #1 predictor of a long life.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88920"/>
            <a:ext cx="10927080" cy="1051560"/>
          </a:xfrm>
          <a:prstGeom prst="roundRect">
            <a:avLst>
              <a:gd name="adj" fmla="val 6000"/>
            </a:avLst>
          </a:prstGeom>
          <a:solidFill>
            <a:srgbClr val="1A202E"/>
          </a:solidFill>
          <a:ln w="12700">
            <a:solidFill>
              <a:srgbClr val="2C35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788920"/>
            <a:ext cx="109728" cy="1051560"/>
          </a:xfrm>
          <a:prstGeom prst="roundRect">
            <a:avLst>
              <a:gd name="adj" fmla="val 6000"/>
            </a:avLst>
          </a:prstGeom>
          <a:solidFill>
            <a:srgbClr val="F0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2834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0A53A"/>
                </a:solidFill>
                <a:latin typeface="Segoe UI"/>
              </a:rPr>
              <a:t>16 GB VRAM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898648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2F5F8"/>
                </a:solidFill>
                <a:latin typeface="Segoe UI"/>
              </a:rPr>
              <a:t>Generous for 4K now, but the most likely future bottleneck. Texture and ray-tracing memory demands climb fastest of any metric.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77640"/>
            <a:ext cx="10927080" cy="1051560"/>
          </a:xfrm>
          <a:prstGeom prst="roundRect">
            <a:avLst>
              <a:gd name="adj" fmla="val 6000"/>
            </a:avLst>
          </a:prstGeom>
          <a:solidFill>
            <a:srgbClr val="1A202E"/>
          </a:solidFill>
          <a:ln w="12700">
            <a:solidFill>
              <a:srgbClr val="2C35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3977640"/>
            <a:ext cx="109728" cy="1051560"/>
          </a:xfrm>
          <a:prstGeom prst="roundRect">
            <a:avLst>
              <a:gd name="adj" fmla="val 6000"/>
            </a:avLst>
          </a:prstGeom>
          <a:solidFill>
            <a:srgbClr val="4C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2834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4C9AFF"/>
                </a:solidFill>
                <a:latin typeface="Segoe UI"/>
              </a:rPr>
              <a:t>DLSS 4 + Frame Gen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087368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2F5F8"/>
                </a:solidFill>
                <a:latin typeface="Segoe UI"/>
              </a:rPr>
              <a:t>Software upside: NVIDIA's upscaling/frame-gen keeps extending playable performance long after raw silicon would tap out.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166360"/>
            <a:ext cx="10927080" cy="1051560"/>
          </a:xfrm>
          <a:prstGeom prst="roundRect">
            <a:avLst>
              <a:gd name="adj" fmla="val 6000"/>
            </a:avLst>
          </a:prstGeom>
          <a:solidFill>
            <a:srgbClr val="1A202E"/>
          </a:solidFill>
          <a:ln w="12700">
            <a:solidFill>
              <a:srgbClr val="2C35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5166360"/>
            <a:ext cx="109728" cy="1051560"/>
          </a:xfrm>
          <a:prstGeom prst="roundRect">
            <a:avLst>
              <a:gd name="adj" fmla="val 6000"/>
            </a:avLst>
          </a:prstGeom>
          <a:solidFill>
            <a:srgbClr val="35D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03520"/>
            <a:ext cx="2834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35D07A"/>
                </a:solidFill>
                <a:latin typeface="Segoe UI"/>
              </a:rPr>
              <a:t>Modern I/O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276088"/>
            <a:ext cx="7498079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2F5F8"/>
                </a:solidFill>
                <a:latin typeface="Segoe UI"/>
              </a:rPr>
              <a:t>PCIe 5.0, DisplayPort 2.1, HDMI 2.1 — ready for next-gen monitors and platforms, so the rest of your PC won't make it obsolete early.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0A53A"/>
                </a:solidFill>
                <a:latin typeface="Segoe UI"/>
              </a:rPr>
              <a:t>THE ANSWER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13232"/>
            <a:ext cx="822960" cy="64008"/>
          </a:xfrm>
          <a:prstGeom prst="roundRect">
            <a:avLst>
              <a:gd name="adj" fmla="val 6000"/>
            </a:avLst>
          </a:prstGeom>
          <a:solidFill>
            <a:srgbClr val="35D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2F5F8"/>
                </a:solidFill>
                <a:latin typeface="Segoe UI"/>
              </a:rPr>
              <a:t>Projected relevance timeline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20"/>
            <a:ext cx="10927080" cy="36576"/>
          </a:xfrm>
          <a:prstGeom prst="roundRect">
            <a:avLst>
              <a:gd name="adj" fmla="val 6000"/>
            </a:avLst>
          </a:prstGeom>
          <a:solidFill>
            <a:srgbClr val="2C35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65376" y="1691640"/>
            <a:ext cx="219456" cy="219456"/>
          </a:xfrm>
          <a:prstGeom prst="roundRect">
            <a:avLst>
              <a:gd name="adj" fmla="val 6000"/>
            </a:avLst>
          </a:prstGeom>
          <a:solidFill>
            <a:srgbClr val="35D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2670048" cy="3108960"/>
          </a:xfrm>
          <a:prstGeom prst="roundRect">
            <a:avLst>
              <a:gd name="adj" fmla="val 6000"/>
            </a:avLst>
          </a:prstGeom>
          <a:solidFill>
            <a:srgbClr val="1A202E"/>
          </a:solidFill>
          <a:ln w="12700">
            <a:solidFill>
              <a:srgbClr val="2C35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26700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2F5F8"/>
                </a:solidFill>
                <a:latin typeface="Segoe UI"/>
              </a:rPr>
              <a:t>2025–2027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06424" y="2971800"/>
            <a:ext cx="1737360" cy="457200"/>
          </a:xfrm>
          <a:prstGeom prst="roundRect">
            <a:avLst>
              <a:gd name="adj" fmla="val 6000"/>
            </a:avLst>
          </a:prstGeom>
          <a:solidFill>
            <a:srgbClr val="35D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6424" y="2999232"/>
            <a:ext cx="1737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0141C"/>
                </a:solidFill>
                <a:latin typeface="Segoe UI"/>
              </a:rPr>
              <a:t>PEAK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611880"/>
            <a:ext cx="226771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AA7B8"/>
                </a:solidFill>
                <a:latin typeface="Segoe UI"/>
              </a:rPr>
              <a:t>Top-tier 4K, max settings, high frame rates with DLSS. No compromises.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0016" y="1691640"/>
            <a:ext cx="219456" cy="219456"/>
          </a:xfrm>
          <a:prstGeom prst="roundRect">
            <a:avLst>
              <a:gd name="adj" fmla="val 6000"/>
            </a:avLst>
          </a:prstGeom>
          <a:solidFill>
            <a:srgbClr val="4C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0" y="2194560"/>
            <a:ext cx="2670048" cy="3108960"/>
          </a:xfrm>
          <a:prstGeom prst="roundRect">
            <a:avLst>
              <a:gd name="adj" fmla="val 6000"/>
            </a:avLst>
          </a:prstGeom>
          <a:solidFill>
            <a:srgbClr val="1A202E"/>
          </a:solidFill>
          <a:ln w="12700">
            <a:solidFill>
              <a:srgbClr val="2C35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423160"/>
            <a:ext cx="26700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2F5F8"/>
                </a:solidFill>
                <a:latin typeface="Segoe UI"/>
              </a:rPr>
              <a:t>2028–2029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41064" y="2971800"/>
            <a:ext cx="1737360" cy="457200"/>
          </a:xfrm>
          <a:prstGeom prst="roundRect">
            <a:avLst>
              <a:gd name="adj" fmla="val 6000"/>
            </a:avLst>
          </a:prstGeom>
          <a:solidFill>
            <a:srgbClr val="4C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41064" y="2999232"/>
            <a:ext cx="1737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0141C"/>
                </a:solidFill>
                <a:latin typeface="Segoe UI"/>
              </a:rPr>
              <a:t>STRONG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8" y="3611880"/>
            <a:ext cx="226771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AA7B8"/>
                </a:solidFill>
                <a:latin typeface="Segoe UI"/>
              </a:rPr>
              <a:t>Still excellent at 4K; occasional setting trims on the most demanding titles. DLSS 4 carries the load.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34656" y="1691640"/>
            <a:ext cx="219456" cy="219456"/>
          </a:xfrm>
          <a:prstGeom prst="roundRect">
            <a:avLst>
              <a:gd name="adj" fmla="val 6000"/>
            </a:avLst>
          </a:prstGeom>
          <a:solidFill>
            <a:srgbClr val="F0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0" y="2194560"/>
            <a:ext cx="2670048" cy="3108960"/>
          </a:xfrm>
          <a:prstGeom prst="roundRect">
            <a:avLst>
              <a:gd name="adj" fmla="val 6000"/>
            </a:avLst>
          </a:prstGeom>
          <a:solidFill>
            <a:srgbClr val="1A202E"/>
          </a:solidFill>
          <a:ln w="12700">
            <a:solidFill>
              <a:srgbClr val="2C35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423160"/>
            <a:ext cx="26700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2F5F8"/>
                </a:solidFill>
                <a:latin typeface="Segoe UI"/>
              </a:rPr>
              <a:t>2030–2031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75704" y="2971800"/>
            <a:ext cx="1737360" cy="457200"/>
          </a:xfrm>
          <a:prstGeom prst="roundRect">
            <a:avLst>
              <a:gd name="adj" fmla="val 6000"/>
            </a:avLst>
          </a:prstGeom>
          <a:solidFill>
            <a:srgbClr val="F0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75704" y="2999232"/>
            <a:ext cx="1737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0141C"/>
                </a:solidFill>
                <a:latin typeface="Segoe UI"/>
              </a:rPr>
              <a:t>CAPABLE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3611880"/>
            <a:ext cx="226771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AA7B8"/>
                </a:solidFill>
                <a:latin typeface="Segoe UI"/>
              </a:rPr>
              <a:t>A solid high-end 1440p / entry-4K card. VRAM begins to limit max textures in newest games.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69296" y="1691640"/>
            <a:ext cx="219456" cy="219456"/>
          </a:xfrm>
          <a:prstGeom prst="roundRect">
            <a:avLst>
              <a:gd name="adj" fmla="val 6000"/>
            </a:avLst>
          </a:prstGeom>
          <a:solidFill>
            <a:srgbClr val="9A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0" y="2194560"/>
            <a:ext cx="2670048" cy="3108960"/>
          </a:xfrm>
          <a:prstGeom prst="roundRect">
            <a:avLst>
              <a:gd name="adj" fmla="val 6000"/>
            </a:avLst>
          </a:prstGeom>
          <a:solidFill>
            <a:srgbClr val="1A202E"/>
          </a:solidFill>
          <a:ln w="12700">
            <a:solidFill>
              <a:srgbClr val="2C35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2423160"/>
            <a:ext cx="26700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2F5F8"/>
                </a:solidFill>
                <a:latin typeface="Segoe UI"/>
              </a:rPr>
              <a:t>2032+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10344" y="2971800"/>
            <a:ext cx="1737360" cy="457200"/>
          </a:xfrm>
          <a:prstGeom prst="roundRect">
            <a:avLst>
              <a:gd name="adj" fmla="val 6000"/>
            </a:avLst>
          </a:prstGeom>
          <a:solidFill>
            <a:srgbClr val="9AA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0344" y="2999232"/>
            <a:ext cx="1737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0141C"/>
                </a:solidFill>
                <a:latin typeface="Segoe UI"/>
              </a:rPr>
              <a:t>AGING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45168" y="3611880"/>
            <a:ext cx="226771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AA7B8"/>
                </a:solidFill>
                <a:latin typeface="Segoe UI"/>
              </a:rPr>
              <a:t>Very playable at 1080p/1440p with upscaling, but no longer a high-end card. Upgrade territory.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7150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F2F5F8"/>
                </a:solidFill>
                <a:latin typeface="Segoe UI"/>
              </a:rPr>
              <a:t>Bottom line: expect </a:t>
            </a:r>
            <a:r>
              <a:rPr sz="1400" b="1" i="0">
                <a:solidFill>
                  <a:srgbClr val="35D07A"/>
                </a:solidFill>
                <a:latin typeface="Segoe UI"/>
              </a:rPr>
              <a:t>~3 years as a no-compromise card and 5–7 years of genuinely usable high-end gaming</a:t>
            </a:r>
            <a:r>
              <a:rPr sz="1400" b="0" i="0">
                <a:solidFill>
                  <a:srgbClr val="F2F5F8"/>
                </a:solidFill>
                <a:latin typeface="Segoe UI"/>
              </a:rPr>
              <a:t> from a 2025 purchase.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5D07A"/>
                </a:solidFill>
                <a:latin typeface="Segoe UI"/>
              </a:rPr>
              <a:t>RISK &amp; RESILIENCE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13232"/>
            <a:ext cx="822960" cy="64008"/>
          </a:xfrm>
          <a:prstGeom prst="roundRect">
            <a:avLst>
              <a:gd name="adj" fmla="val 6000"/>
            </a:avLst>
          </a:prstGeom>
          <a:solidFill>
            <a:srgbClr val="35D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2F5F8"/>
                </a:solidFill>
                <a:latin typeface="Segoe UI"/>
              </a:rPr>
              <a:t>What extends — and what shortens — its life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440680" cy="4206240"/>
          </a:xfrm>
          <a:prstGeom prst="roundRect">
            <a:avLst>
              <a:gd name="adj" fmla="val 6000"/>
            </a:avLst>
          </a:prstGeom>
          <a:solidFill>
            <a:srgbClr val="1A202E"/>
          </a:solidFill>
          <a:ln w="12700">
            <a:solidFill>
              <a:srgbClr val="2C35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440680" cy="548640"/>
          </a:xfrm>
          <a:prstGeom prst="roundRect">
            <a:avLst>
              <a:gd name="adj" fmla="val 6000"/>
            </a:avLst>
          </a:prstGeom>
          <a:solidFill>
            <a:srgbClr val="35D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73352"/>
            <a:ext cx="5440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0141C"/>
                </a:solidFill>
                <a:latin typeface="Segoe UI"/>
              </a:rPr>
              <a:t>EXTENDS RELEVANCE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35D07A"/>
                </a:solidFill>
                <a:latin typeface="Segoe UI"/>
              </a:rPr>
              <a:t>▪  </a:t>
            </a:r>
            <a:r>
              <a:rPr sz="1400">
                <a:solidFill>
                  <a:srgbClr val="F2F5F8"/>
                </a:solidFill>
                <a:latin typeface="Segoe UI"/>
              </a:rPr>
              <a:t>DLSS 4 &amp; future DLSS revisions adding free performance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35D07A"/>
                </a:solidFill>
                <a:latin typeface="Segoe UI"/>
              </a:rPr>
              <a:t>▪  </a:t>
            </a:r>
            <a:r>
              <a:rPr sz="1400">
                <a:solidFill>
                  <a:srgbClr val="F2F5F8"/>
                </a:solidFill>
                <a:latin typeface="Segoe UI"/>
              </a:rPr>
              <a:t>Strong raw horsepower with real 4K headroom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35D07A"/>
                </a:solidFill>
                <a:latin typeface="Segoe UI"/>
              </a:rPr>
              <a:t>▪  </a:t>
            </a:r>
            <a:r>
              <a:rPr sz="1400">
                <a:solidFill>
                  <a:srgbClr val="F2F5F8"/>
                </a:solidFill>
                <a:latin typeface="Segoe UI"/>
              </a:rPr>
              <a:t>Gaming at 1440p instead of 4K (big lifespan boost)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35D07A"/>
                </a:solidFill>
                <a:latin typeface="Segoe UI"/>
              </a:rPr>
              <a:t>▪  </a:t>
            </a:r>
            <a:r>
              <a:rPr sz="1400">
                <a:solidFill>
                  <a:srgbClr val="F2F5F8"/>
                </a:solidFill>
                <a:latin typeface="Segoe UI"/>
              </a:rPr>
              <a:t>Modern I/O — no platform bottleneck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35D07A"/>
                </a:solidFill>
                <a:latin typeface="Segoe UI"/>
              </a:rPr>
              <a:t>▪  </a:t>
            </a:r>
            <a:r>
              <a:rPr sz="1400">
                <a:solidFill>
                  <a:srgbClr val="F2F5F8"/>
                </a:solidFill>
                <a:latin typeface="Segoe UI"/>
              </a:rPr>
              <a:t>Premium Astral cooling = stable clocks &amp; longevity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257800" cy="4206240"/>
          </a:xfrm>
          <a:prstGeom prst="roundRect">
            <a:avLst>
              <a:gd name="adj" fmla="val 6000"/>
            </a:avLst>
          </a:prstGeom>
          <a:solidFill>
            <a:srgbClr val="1A202E"/>
          </a:solidFill>
          <a:ln w="12700">
            <a:solidFill>
              <a:srgbClr val="2C35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257800" cy="548640"/>
          </a:xfrm>
          <a:prstGeom prst="roundRect">
            <a:avLst>
              <a:gd name="adj" fmla="val 6000"/>
            </a:avLst>
          </a:prstGeom>
          <a:solidFill>
            <a:srgbClr val="F0A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673352"/>
            <a:ext cx="5257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0141C"/>
                </a:solidFill>
                <a:latin typeface="Segoe UI"/>
              </a:rPr>
              <a:t>SHORTENS RELEVANCE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7744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F0A53A"/>
                </a:solidFill>
                <a:latin typeface="Segoe UI"/>
              </a:rPr>
              <a:t>▪  </a:t>
            </a:r>
            <a:r>
              <a:rPr sz="1400">
                <a:solidFill>
                  <a:srgbClr val="F2F5F8"/>
                </a:solidFill>
                <a:latin typeface="Segoe UI"/>
              </a:rPr>
              <a:t>16 GB VRAM ceiling as games grow more memory-hungry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F0A53A"/>
                </a:solidFill>
                <a:latin typeface="Segoe UI"/>
              </a:rPr>
              <a:t>▪  </a:t>
            </a:r>
            <a:r>
              <a:rPr sz="1400">
                <a:solidFill>
                  <a:srgbClr val="F2F5F8"/>
                </a:solidFill>
                <a:latin typeface="Segoe UI"/>
              </a:rPr>
              <a:t>Heavy path-traced / ray-traced titles aging it faster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F0A53A"/>
                </a:solidFill>
                <a:latin typeface="Segoe UI"/>
              </a:rPr>
              <a:t>▪  </a:t>
            </a:r>
            <a:r>
              <a:rPr sz="1400">
                <a:solidFill>
                  <a:srgbClr val="F2F5F8"/>
                </a:solidFill>
                <a:latin typeface="Segoe UI"/>
              </a:rPr>
              <a:t>Chasing 4K at max settings with no upscaling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F0A53A"/>
                </a:solidFill>
                <a:latin typeface="Segoe UI"/>
              </a:rPr>
              <a:t>▪  </a:t>
            </a:r>
            <a:r>
              <a:rPr sz="1400">
                <a:solidFill>
                  <a:srgbClr val="F2F5F8"/>
                </a:solidFill>
                <a:latin typeface="Segoe UI"/>
              </a:rPr>
              <a:t>A future console generation raising the baseline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F0A53A"/>
                </a:solidFill>
                <a:latin typeface="Segoe UI"/>
              </a:rPr>
              <a:t>▪  </a:t>
            </a:r>
            <a:r>
              <a:rPr sz="1400">
                <a:solidFill>
                  <a:srgbClr val="F2F5F8"/>
                </a:solidFill>
                <a:latin typeface="Segoe UI"/>
              </a:rPr>
              <a:t>Rapid AI/feature gating to newer architectures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35D07A"/>
                </a:solidFill>
                <a:latin typeface="Segoe UI"/>
              </a:rPr>
              <a:t>VERDICT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713232"/>
            <a:ext cx="822960" cy="64008"/>
          </a:xfrm>
          <a:prstGeom prst="roundRect">
            <a:avLst>
              <a:gd name="adj" fmla="val 6000"/>
            </a:avLst>
          </a:prstGeom>
          <a:solidFill>
            <a:srgbClr val="35D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2F5F8"/>
                </a:solidFill>
                <a:latin typeface="Segoe UI"/>
              </a:rPr>
              <a:t>Should you count on it lasting?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0927080" cy="1371600"/>
          </a:xfrm>
          <a:prstGeom prst="roundRect">
            <a:avLst>
              <a:gd name="adj" fmla="val 6000"/>
            </a:avLst>
          </a:prstGeom>
          <a:solidFill>
            <a:srgbClr val="1A202E"/>
          </a:solidFill>
          <a:ln w="19050">
            <a:solidFill>
              <a:srgbClr val="35D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4241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35D07A"/>
                </a:solidFill>
                <a:latin typeface="Segoe UI"/>
              </a:rPr>
              <a:t>Yes — it's a safe long-term buy. </a:t>
            </a:r>
            <a:r>
              <a:rPr sz="1600" b="0" i="0">
                <a:solidFill>
                  <a:srgbClr val="F2F5F8"/>
                </a:solidFill>
                <a:latin typeface="Segoe UI"/>
              </a:rPr>
              <a:t>As a near-top-tier Blackwell card with DLSS 4, the ROG Astral RTX 5080 should stay a high-end gaming GPU for roughly 5–7 years, with its first ~3 years as a true no-compromise 4K card.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2F5F8"/>
                </a:solidFill>
                <a:latin typeface="Segoe UI"/>
              </a:rPr>
              <a:t>Best matched to: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49039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4C9AFF"/>
                </a:solidFill>
                <a:latin typeface="Segoe UI"/>
              </a:rPr>
              <a:t>▪  </a:t>
            </a:r>
            <a:r>
              <a:rPr sz="1500">
                <a:solidFill>
                  <a:srgbClr val="F2F5F8"/>
                </a:solidFill>
                <a:latin typeface="Segoe UI"/>
              </a:rPr>
              <a:t>4K and high-refresh 1440p gamers who want years before re-thinking an upgrade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4C9AFF"/>
                </a:solidFill>
                <a:latin typeface="Segoe UI"/>
              </a:rPr>
              <a:t>▪  </a:t>
            </a:r>
            <a:r>
              <a:rPr sz="1500">
                <a:solidFill>
                  <a:srgbClr val="F2F5F8"/>
                </a:solidFill>
                <a:latin typeface="Segoe UI"/>
              </a:rPr>
              <a:t>Buyers who value DLSS / frame-gen and will keep using it as titles get heavier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4C9AFF"/>
                </a:solidFill>
                <a:latin typeface="Segoe UI"/>
              </a:rPr>
              <a:t>▪  </a:t>
            </a:r>
            <a:r>
              <a:rPr sz="1500">
                <a:solidFill>
                  <a:srgbClr val="F2F5F8"/>
                </a:solidFill>
                <a:latin typeface="Segoe UI"/>
              </a:rPr>
              <a:t>Creators and enthusiasts who want flagship-class cooling and acoustics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0A53A"/>
                </a:solidFill>
                <a:latin typeface="Segoe UI"/>
              </a:rPr>
              <a:t>Watch item: </a:t>
            </a:r>
            <a:r>
              <a:rPr sz="1300" b="0" i="1">
                <a:solidFill>
                  <a:srgbClr val="9AA7B8"/>
                </a:solidFill>
                <a:latin typeface="Segoe UI"/>
              </a:rPr>
              <a:t>the 16 GB VRAM is the single factor most likely to define its eventual ceiling — the rest of the card will outlive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64592"/>
          </a:xfrm>
          <a:prstGeom prst="roundRect">
            <a:avLst>
              <a:gd name="adj" fmla="val 6000"/>
            </a:avLst>
          </a:prstGeom>
          <a:solidFill>
            <a:srgbClr val="35D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2F5F8"/>
                </a:solidFill>
                <a:latin typeface="Segoe UI"/>
              </a:rPr>
              <a:t>Relevance is a spectrum, not a cliff.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9AA7B8"/>
                </a:solidFill>
                <a:latin typeface="Segoe UI"/>
              </a:rPr>
              <a:t>The RTX 5080 won't “stop working” — it gradually steps down from no-compromise 4K to a strong 1440p card. Pairing it with DLSS and a sensible resolution target is what stretches its useful life toward the longer end of the estimate.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9AA7B8"/>
                </a:solidFill>
                <a:latin typeface="Segoe UI"/>
              </a:rPr>
              <a:t>Estimates are projections based on historical GPU lifecycles and current trends, not guarantees.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